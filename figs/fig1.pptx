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2" r:id="rId2"/>
    <p:sldId id="273" r:id="rId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F23"/>
    <a:srgbClr val="00147F"/>
    <a:srgbClr val="961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9"/>
    <p:restoredTop sz="94726"/>
  </p:normalViewPr>
  <p:slideViewPr>
    <p:cSldViewPr snapToGrid="0">
      <p:cViewPr>
        <p:scale>
          <a:sx n="117" d="100"/>
          <a:sy n="117" d="100"/>
        </p:scale>
        <p:origin x="5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92A86-B628-864C-9AF3-B79AFF270722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7217B-561A-B74E-988D-25065D43AAE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6537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499C-7376-6969-0FB8-D8FE03EC6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D4511-B2C7-9BF4-3AB1-DFE7AFE1A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25246-57C7-732D-607F-67A10DD9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2C186-6014-B2AD-0F81-5E4B6579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5EC04-16E5-C554-B910-3FA5C833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9302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0D20-B5DC-1042-C31A-F2EEBA56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0B67-E210-0285-66F3-46DD334E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1053-53A7-8606-8311-E2CDADCD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7FC59-3672-90F2-D5AB-950EA7F1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D4967-6DEE-B4D0-3447-4C4F148D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372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63E4-5EF3-CA9C-67EA-40CCF434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90CC5-5140-6B8C-BB1B-C724FF397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1B17F-14A3-5438-2003-1AD28894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4C1A-40B8-FCCF-FC59-EBC5A6E8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77005-D94A-B4E0-1F58-CCC5216D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9163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528F4-1574-8F65-832A-FA11336C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9D23D-749F-3034-2EC7-97C8B464A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73E08-016F-FABA-EFBE-71ABF436C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BCB5A-3E9A-43B0-3539-A96AA9AD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E9C4F-E96E-C673-7702-E4445BC4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B85B1-F9A1-D516-076A-A8EE730D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7338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C0AF-35DE-2EEF-DE9E-10ACC4CA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21182-CD56-9594-ECF7-7F06288D0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723B8-AC79-6952-15BF-BCA162CD1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F70C2-E452-9709-C6C9-CC19C6196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CA36A-0D25-0B04-8282-59C6B811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D6B24-0A43-7D62-8FD9-52B41BD9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6760F-2034-E7DA-8632-75490E18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AA11E-ACAB-05CF-562C-6E0900C9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6380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75BE-F5A7-1D3B-D284-4B303C8A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750B8-3A43-6650-4A73-A0AE0D23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E4056-9170-CEBE-ADFC-A53AB14B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00452-E7EF-C580-AADE-0FA82E05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4314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E6B0F-9A51-D0CD-E54A-7B8D1606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74091-D85B-A02A-6BE8-E6C9762D4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72E1C-9B3F-3675-B30C-B58D4346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193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6267-C800-18D6-802C-C64A7850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8368F-2B1C-7F73-9A07-4526CC15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0A2D2-2C4F-4100-003E-D7B29EC47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55F49-4014-8502-0B98-CA97AC67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FB4C8-CEB2-1EC1-D027-219419EA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A6D9A-4F0A-9D69-CF7A-D5A1946D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332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FAEE-061C-4C0D-43D5-881AFB21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355B2-5C19-07C0-B53E-366C076C7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2A3EA-E965-FC49-427A-4650DF7E7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FF4A3-54B3-839C-B80B-873079B1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29F1B-5B3A-9A96-50D2-CAE5A18B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578EE-2AF4-5C78-EF93-B7797536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9836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CE76-17C5-C37A-1A2B-A1478AAD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22EFE-63D5-43E2-8055-CC2ADC4C1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43E64-8635-579E-F50A-7B3A6E5E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FDD72-50C1-3233-F8B4-D11542E8C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1142-2E8D-4CC8-67A2-C1E57559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531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94B8D-6761-A8F3-5E09-89ACBC6A6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C63E6-1C10-60DE-722A-477A24A53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2CFD8-BFBC-245A-F5D1-8D515B0C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61CDA-1983-8F53-D70E-3E0ED05F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F3B2C-9258-A69D-1B42-3AB53288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310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2BB98-5239-3A3C-B623-60796E2D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4FF07-3F07-55B1-6781-9F7195F96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7D4AC-6A61-872B-9EB5-A69F0CA66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8CBF1-00AE-0843-BB2C-DC6DB3159B14}" type="datetimeFigureOut">
              <a:rPr lang="en-TW" smtClean="0"/>
              <a:t>2026/3/29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6FF4F-0610-1A3A-4EDF-02ADBD6E9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AE953-EF96-64BB-503A-A453CB3F4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D7DF5-8416-694A-B01F-0B3AA21973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4874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3B464-663F-17EA-187F-BDCB127B2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0" t="4156" r="5405" b="4416"/>
          <a:stretch/>
        </p:blipFill>
        <p:spPr>
          <a:xfrm>
            <a:off x="4696014" y="3598538"/>
            <a:ext cx="2396414" cy="2461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30372-E205-A209-5BEB-51B54FB7EF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15"/>
          <a:stretch>
            <a:fillRect/>
          </a:stretch>
        </p:blipFill>
        <p:spPr>
          <a:xfrm>
            <a:off x="857360" y="1837095"/>
            <a:ext cx="3251998" cy="14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1711B-0488-D947-2EA9-289BF5CA1C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46" r="3215"/>
          <a:stretch>
            <a:fillRect/>
          </a:stretch>
        </p:blipFill>
        <p:spPr>
          <a:xfrm>
            <a:off x="857360" y="3277095"/>
            <a:ext cx="3251998" cy="13399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10666E-5090-EA0A-AEBF-E4F075D1E9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15"/>
          <a:stretch>
            <a:fillRect/>
          </a:stretch>
        </p:blipFill>
        <p:spPr>
          <a:xfrm>
            <a:off x="857360" y="4620224"/>
            <a:ext cx="3251997" cy="144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7B215C-533D-C650-B23C-4672267408C1}"/>
              </a:ext>
            </a:extLst>
          </p:cNvPr>
          <p:cNvSpPr txBox="1"/>
          <p:nvPr/>
        </p:nvSpPr>
        <p:spPr>
          <a:xfrm rot="16200000">
            <a:off x="-31697" y="2390404"/>
            <a:ext cx="1531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000" b="1" dirty="0">
                <a:solidFill>
                  <a:srgbClr val="9612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Dry-Eye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4FF5D-0884-B08B-6261-8485D313FA7F}"/>
              </a:ext>
            </a:extLst>
          </p:cNvPr>
          <p:cNvSpPr txBox="1"/>
          <p:nvPr/>
        </p:nvSpPr>
        <p:spPr>
          <a:xfrm rot="16200000">
            <a:off x="14247" y="3775537"/>
            <a:ext cx="144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000" b="1" dirty="0">
                <a:solidFill>
                  <a:srgbClr val="0014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414B2-8E6B-C7BA-997B-67BAC5F1549F}"/>
              </a:ext>
            </a:extLst>
          </p:cNvPr>
          <p:cNvSpPr txBox="1"/>
          <p:nvPr/>
        </p:nvSpPr>
        <p:spPr>
          <a:xfrm rot="16200000">
            <a:off x="14247" y="5217113"/>
            <a:ext cx="1440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000" b="1" dirty="0">
                <a:solidFill>
                  <a:srgbClr val="B88F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Irritable Bowel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B0F06-D8A5-59E4-97AF-E05F85E7B53E}"/>
              </a:ext>
            </a:extLst>
          </p:cNvPr>
          <p:cNvSpPr txBox="1"/>
          <p:nvPr/>
        </p:nvSpPr>
        <p:spPr>
          <a:xfrm>
            <a:off x="1771459" y="1507468"/>
            <a:ext cx="2445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TW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GWAS &amp; LD adjustments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5B4BFE-BCC6-41E4-1C37-E2618014CADE}"/>
              </a:ext>
            </a:extLst>
          </p:cNvPr>
          <p:cNvCxnSpPr/>
          <p:nvPr/>
        </p:nvCxnSpPr>
        <p:spPr>
          <a:xfrm flipH="1">
            <a:off x="612448" y="1645967"/>
            <a:ext cx="16748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6A438F9-24AC-034F-7134-B0A41FA23A86}"/>
              </a:ext>
            </a:extLst>
          </p:cNvPr>
          <p:cNvSpPr>
            <a:spLocks noChangeAspect="1"/>
          </p:cNvSpPr>
          <p:nvPr/>
        </p:nvSpPr>
        <p:spPr>
          <a:xfrm>
            <a:off x="591381" y="1627827"/>
            <a:ext cx="36062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F7349F-7162-1EF1-4790-7244B0DAD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95030">
            <a:off x="6070515" y="3057310"/>
            <a:ext cx="1495253" cy="1469747"/>
          </a:xfrm>
          <a:prstGeom prst="ellipse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7EFC1-06AC-F59E-B588-254628F96EAA}"/>
              </a:ext>
            </a:extLst>
          </p:cNvPr>
          <p:cNvSpPr txBox="1"/>
          <p:nvPr/>
        </p:nvSpPr>
        <p:spPr>
          <a:xfrm rot="18434530">
            <a:off x="7183560" y="2954420"/>
            <a:ext cx="533536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18000" rtlCol="0">
            <a:spAutoFit/>
          </a:bodyPr>
          <a:lstStyle/>
          <a:p>
            <a:r>
              <a:rPr lang="en-US" sz="400" dirty="0"/>
              <a:t>Cytokine production involved in immune response</a:t>
            </a:r>
            <a:endParaRPr lang="en-TW" sz="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2CCB8E-B31F-E62D-D725-6BE678D74530}"/>
              </a:ext>
            </a:extLst>
          </p:cNvPr>
          <p:cNvSpPr txBox="1"/>
          <p:nvPr/>
        </p:nvSpPr>
        <p:spPr>
          <a:xfrm rot="20564914">
            <a:off x="7480016" y="3352679"/>
            <a:ext cx="702716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18000" rtlCol="0">
            <a:spAutoFit/>
          </a:bodyPr>
          <a:lstStyle/>
          <a:p>
            <a:r>
              <a:rPr lang="en-US" sz="400" dirty="0"/>
              <a:t>Positive regulation of cytokine production involved in immune response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E858DC-D393-10E1-222A-2276A6D9565B}"/>
              </a:ext>
            </a:extLst>
          </p:cNvPr>
          <p:cNvSpPr txBox="1"/>
          <p:nvPr/>
        </p:nvSpPr>
        <p:spPr>
          <a:xfrm rot="1271553">
            <a:off x="7441810" y="4034038"/>
            <a:ext cx="784481" cy="217783"/>
          </a:xfrm>
          <a:prstGeom prst="rect">
            <a:avLst/>
          </a:prstGeom>
          <a:solidFill>
            <a:schemeClr val="bg1"/>
          </a:solidFill>
        </p:spPr>
        <p:txBody>
          <a:bodyPr wrap="square" lIns="18000" rtlCol="0">
            <a:spAutoFit/>
          </a:bodyPr>
          <a:lstStyle/>
          <a:p>
            <a:r>
              <a:rPr lang="en-US" sz="400" dirty="0"/>
              <a:t>Positive regulation of interleukin 6 production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90BD9E-FA79-7EA4-FF17-9B2B09CF1060}"/>
              </a:ext>
            </a:extLst>
          </p:cNvPr>
          <p:cNvSpPr txBox="1"/>
          <p:nvPr/>
        </p:nvSpPr>
        <p:spPr>
          <a:xfrm rot="3721374">
            <a:off x="7017817" y="4461896"/>
            <a:ext cx="679757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18000" rtlCol="0">
            <a:spAutoFit/>
          </a:bodyPr>
          <a:lstStyle/>
          <a:p>
            <a:r>
              <a:rPr lang="en-US" sz="400" dirty="0"/>
              <a:t>Tumor necrosis factor superfamily</a:t>
            </a:r>
          </a:p>
          <a:p>
            <a:r>
              <a:rPr lang="en-US" sz="400" dirty="0"/>
              <a:t>cytokine production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967161-A904-D3EE-CA3F-ED25C455CF91}"/>
              </a:ext>
            </a:extLst>
          </p:cNvPr>
          <p:cNvSpPr txBox="1"/>
          <p:nvPr/>
        </p:nvSpPr>
        <p:spPr>
          <a:xfrm rot="133116">
            <a:off x="7509471" y="3779701"/>
            <a:ext cx="56482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18000" rtlCol="0">
            <a:spAutoFit/>
          </a:bodyPr>
          <a:lstStyle/>
          <a:p>
            <a:r>
              <a:rPr lang="en-US" sz="400" dirty="0"/>
              <a:t>Antigen binding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D050EC-F1BE-6D13-D47C-4DB75541A0C9}"/>
              </a:ext>
            </a:extLst>
          </p:cNvPr>
          <p:cNvSpPr txBox="1"/>
          <p:nvPr/>
        </p:nvSpPr>
        <p:spPr>
          <a:xfrm rot="2559272">
            <a:off x="7271713" y="4275831"/>
            <a:ext cx="583811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18000" rtlCol="0">
            <a:spAutoFit/>
          </a:bodyPr>
          <a:lstStyle/>
          <a:p>
            <a:r>
              <a:rPr lang="en-US" sz="400" dirty="0"/>
              <a:t>T-cell receptor signaling</a:t>
            </a:r>
            <a:endParaRPr lang="en-TW" sz="4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3A793C-60F0-32B2-28A4-CCFB95F6D28E}"/>
              </a:ext>
            </a:extLst>
          </p:cNvPr>
          <p:cNvGrpSpPr/>
          <p:nvPr/>
        </p:nvGrpSpPr>
        <p:grpSpPr>
          <a:xfrm>
            <a:off x="4702498" y="1996482"/>
            <a:ext cx="1688387" cy="1531894"/>
            <a:chOff x="4407613" y="1996482"/>
            <a:chExt cx="1688387" cy="153189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1B4A49C-F02B-E26A-4BFD-30554FF9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4948"/>
            <a:stretch>
              <a:fillRect/>
            </a:stretch>
          </p:blipFill>
          <p:spPr>
            <a:xfrm>
              <a:off x="4407613" y="1996482"/>
              <a:ext cx="1688387" cy="1531894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AD64C3B-145A-979F-C273-46072366E1ED}"/>
                </a:ext>
              </a:extLst>
            </p:cNvPr>
            <p:cNvSpPr/>
            <p:nvPr/>
          </p:nvSpPr>
          <p:spPr>
            <a:xfrm>
              <a:off x="5034261" y="1996482"/>
              <a:ext cx="91103" cy="516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D4CA08-AAA4-F534-C761-E3F7E3252491}"/>
                </a:ext>
              </a:extLst>
            </p:cNvPr>
            <p:cNvSpPr/>
            <p:nvPr/>
          </p:nvSpPr>
          <p:spPr>
            <a:xfrm>
              <a:off x="5706460" y="1996482"/>
              <a:ext cx="91103" cy="516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D4525DA-A5D9-8684-681A-586398F3CA4A}"/>
              </a:ext>
            </a:extLst>
          </p:cNvPr>
          <p:cNvSpPr txBox="1"/>
          <p:nvPr/>
        </p:nvSpPr>
        <p:spPr>
          <a:xfrm>
            <a:off x="5476342" y="1515333"/>
            <a:ext cx="2445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TW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Functional Annotation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C45285-61B2-3B90-6047-AB76509CC105}"/>
              </a:ext>
            </a:extLst>
          </p:cNvPr>
          <p:cNvCxnSpPr>
            <a:cxnSpLocks/>
          </p:cNvCxnSpPr>
          <p:nvPr/>
        </p:nvCxnSpPr>
        <p:spPr>
          <a:xfrm flipH="1">
            <a:off x="4538340" y="1641720"/>
            <a:ext cx="1641303" cy="9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5D45841-FA33-595D-CD87-9D6C0FACD6D0}"/>
              </a:ext>
            </a:extLst>
          </p:cNvPr>
          <p:cNvSpPr>
            <a:spLocks noChangeAspect="1"/>
          </p:cNvSpPr>
          <p:nvPr/>
        </p:nvSpPr>
        <p:spPr>
          <a:xfrm>
            <a:off x="4517273" y="1633267"/>
            <a:ext cx="36062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113947A-6C5F-7162-9461-3243E02E2A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587" y="5658084"/>
            <a:ext cx="336543" cy="4021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4FD7484-239C-F8C8-EDA6-A92EA302E1AD}"/>
              </a:ext>
            </a:extLst>
          </p:cNvPr>
          <p:cNvSpPr txBox="1"/>
          <p:nvPr/>
        </p:nvSpPr>
        <p:spPr>
          <a:xfrm>
            <a:off x="9102321" y="1521361"/>
            <a:ext cx="2445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TW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Mendelian Randomization</a:t>
            </a:r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2375D0EB-BEB4-F4F1-B530-63A88F2A0C18}"/>
              </a:ext>
            </a:extLst>
          </p:cNvPr>
          <p:cNvSpPr/>
          <p:nvPr/>
        </p:nvSpPr>
        <p:spPr>
          <a:xfrm rot="5400000">
            <a:off x="2197563" y="3847886"/>
            <a:ext cx="4294435" cy="272856"/>
          </a:xfrm>
          <a:prstGeom prst="trapezoid">
            <a:avLst>
              <a:gd name="adj" fmla="val 1738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TW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0020EFF-C599-19C0-2A16-F3653344D9B6}"/>
              </a:ext>
            </a:extLst>
          </p:cNvPr>
          <p:cNvCxnSpPr>
            <a:cxnSpLocks/>
          </p:cNvCxnSpPr>
          <p:nvPr/>
        </p:nvCxnSpPr>
        <p:spPr>
          <a:xfrm flipH="1">
            <a:off x="8239129" y="1651407"/>
            <a:ext cx="13030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41E55685-967A-0E2F-5407-3AC0F1317901}"/>
              </a:ext>
            </a:extLst>
          </p:cNvPr>
          <p:cNvSpPr>
            <a:spLocks noChangeAspect="1"/>
          </p:cNvSpPr>
          <p:nvPr/>
        </p:nvSpPr>
        <p:spPr>
          <a:xfrm>
            <a:off x="8218062" y="1633267"/>
            <a:ext cx="36062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02ECC9C-1548-0149-3772-F75A90DA386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811"/>
          <a:stretch>
            <a:fillRect/>
          </a:stretch>
        </p:blipFill>
        <p:spPr>
          <a:xfrm>
            <a:off x="8654395" y="4365612"/>
            <a:ext cx="1303077" cy="130838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F1B7F4F-F292-2031-BD01-0D7E82F1544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811"/>
          <a:stretch>
            <a:fillRect/>
          </a:stretch>
        </p:blipFill>
        <p:spPr>
          <a:xfrm>
            <a:off x="10197496" y="4361295"/>
            <a:ext cx="1303077" cy="130838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59187C2A-AF6B-6FCC-53CA-A6136F708ECD}"/>
              </a:ext>
            </a:extLst>
          </p:cNvPr>
          <p:cNvSpPr txBox="1"/>
          <p:nvPr/>
        </p:nvSpPr>
        <p:spPr>
          <a:xfrm rot="16200000">
            <a:off x="3512542" y="3775537"/>
            <a:ext cx="1634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000" dirty="0">
                <a:latin typeface="Arial" panose="020B0604020202020204" pitchFamily="34" charset="0"/>
                <a:cs typeface="Arial" panose="020B0604020202020204" pitchFamily="34" charset="0"/>
              </a:rPr>
              <a:t>SNP-to-Gene mapping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E2108F-2EBC-4F99-BE87-D0E2E23A8426}"/>
              </a:ext>
            </a:extLst>
          </p:cNvPr>
          <p:cNvSpPr txBox="1"/>
          <p:nvPr/>
        </p:nvSpPr>
        <p:spPr>
          <a:xfrm rot="16200000">
            <a:off x="7697642" y="4907766"/>
            <a:ext cx="16344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800" dirty="0">
                <a:latin typeface="Arial" panose="020B0604020202020204" pitchFamily="34" charset="0"/>
                <a:cs typeface="Arial" panose="020B0604020202020204" pitchFamily="34" charset="0"/>
              </a:rPr>
              <a:t>SNP effect on D</a:t>
            </a:r>
            <a:r>
              <a:rPr lang="en-TW" sz="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TW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7007FC-77C5-1A79-0985-7677A5FAD234}"/>
              </a:ext>
            </a:extLst>
          </p:cNvPr>
          <p:cNvSpPr txBox="1"/>
          <p:nvPr/>
        </p:nvSpPr>
        <p:spPr>
          <a:xfrm rot="16200000">
            <a:off x="9260243" y="4907766"/>
            <a:ext cx="16344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800" dirty="0">
                <a:latin typeface="Arial" panose="020B0604020202020204" pitchFamily="34" charset="0"/>
                <a:cs typeface="Arial" panose="020B0604020202020204" pitchFamily="34" charset="0"/>
              </a:rPr>
              <a:t>SNP effect on D</a:t>
            </a:r>
            <a:r>
              <a:rPr lang="en-TW" sz="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TW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9B8F85-2F18-99DD-24EC-9586DDB13B5C}"/>
              </a:ext>
            </a:extLst>
          </p:cNvPr>
          <p:cNvSpPr txBox="1"/>
          <p:nvPr/>
        </p:nvSpPr>
        <p:spPr>
          <a:xfrm>
            <a:off x="8488693" y="5665873"/>
            <a:ext cx="16344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800" dirty="0">
                <a:latin typeface="Arial" panose="020B0604020202020204" pitchFamily="34" charset="0"/>
                <a:cs typeface="Arial" panose="020B0604020202020204" pitchFamily="34" charset="0"/>
              </a:rPr>
              <a:t>SNP effect on D</a:t>
            </a:r>
            <a:r>
              <a:rPr lang="en-TW" sz="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TW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DC3228-E306-37BB-7B6B-23C37E4A1649}"/>
              </a:ext>
            </a:extLst>
          </p:cNvPr>
          <p:cNvSpPr txBox="1"/>
          <p:nvPr/>
        </p:nvSpPr>
        <p:spPr>
          <a:xfrm>
            <a:off x="10033344" y="5665872"/>
            <a:ext cx="16344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800" dirty="0">
                <a:latin typeface="Arial" panose="020B0604020202020204" pitchFamily="34" charset="0"/>
                <a:cs typeface="Arial" panose="020B0604020202020204" pitchFamily="34" charset="0"/>
              </a:rPr>
              <a:t>SNP effect on D</a:t>
            </a:r>
            <a:r>
              <a:rPr lang="en-TW" sz="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TW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4" name="Trapezoid 1053">
            <a:extLst>
              <a:ext uri="{FF2B5EF4-FFF2-40B4-BE49-F238E27FC236}">
                <a16:creationId xmlns:a16="http://schemas.microsoft.com/office/drawing/2014/main" id="{C262FECF-0DCE-2195-D83D-2023638EF9FD}"/>
              </a:ext>
            </a:extLst>
          </p:cNvPr>
          <p:cNvSpPr/>
          <p:nvPr/>
        </p:nvSpPr>
        <p:spPr>
          <a:xfrm rot="5400000">
            <a:off x="6018166" y="3847886"/>
            <a:ext cx="4294435" cy="272856"/>
          </a:xfrm>
          <a:prstGeom prst="trapezoid">
            <a:avLst>
              <a:gd name="adj" fmla="val 1738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algn="ctr"/>
            <a:endParaRPr lang="en-TW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E44F55DA-927F-9BDA-E92E-A8706F063049}"/>
              </a:ext>
            </a:extLst>
          </p:cNvPr>
          <p:cNvSpPr txBox="1"/>
          <p:nvPr/>
        </p:nvSpPr>
        <p:spPr>
          <a:xfrm rot="16200000">
            <a:off x="7333145" y="3775537"/>
            <a:ext cx="1634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1000" dirty="0">
                <a:latin typeface="Arial" panose="020B0604020202020204" pitchFamily="34" charset="0"/>
                <a:cs typeface="Arial" panose="020B0604020202020204" pitchFamily="34" charset="0"/>
              </a:rPr>
              <a:t>SNP-to-Gene mapping</a:t>
            </a:r>
          </a:p>
        </p:txBody>
      </p:sp>
      <p:pic>
        <p:nvPicPr>
          <p:cNvPr id="1065" name="Picture 1064">
            <a:extLst>
              <a:ext uri="{FF2B5EF4-FFF2-40B4-BE49-F238E27FC236}">
                <a16:creationId xmlns:a16="http://schemas.microsoft.com/office/drawing/2014/main" id="{0F9D3CBE-884B-A7AA-8650-49D300ECED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920" y="2140814"/>
            <a:ext cx="3135125" cy="2037831"/>
          </a:xfrm>
          <a:prstGeom prst="rect">
            <a:avLst/>
          </a:prstGeom>
        </p:spPr>
      </p:pic>
      <p:sp>
        <p:nvSpPr>
          <p:cNvPr id="1066" name="TextBox 1065">
            <a:extLst>
              <a:ext uri="{FF2B5EF4-FFF2-40B4-BE49-F238E27FC236}">
                <a16:creationId xmlns:a16="http://schemas.microsoft.com/office/drawing/2014/main" id="{1E6D7C84-C201-726B-4BB8-C999827D1D30}"/>
              </a:ext>
            </a:extLst>
          </p:cNvPr>
          <p:cNvSpPr txBox="1"/>
          <p:nvPr/>
        </p:nvSpPr>
        <p:spPr>
          <a:xfrm>
            <a:off x="9560272" y="3438511"/>
            <a:ext cx="330718" cy="31892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TW"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TW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TW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A20E786C-DCB1-ADF3-F626-007F97AA902F}"/>
              </a:ext>
            </a:extLst>
          </p:cNvPr>
          <p:cNvSpPr txBox="1"/>
          <p:nvPr/>
        </p:nvSpPr>
        <p:spPr>
          <a:xfrm>
            <a:off x="10745159" y="3429000"/>
            <a:ext cx="330718" cy="31892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TW"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TW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TW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A926BB31-2C53-8A0B-2D91-2EE239A15664}"/>
              </a:ext>
            </a:extLst>
          </p:cNvPr>
          <p:cNvSpPr txBox="1"/>
          <p:nvPr/>
        </p:nvSpPr>
        <p:spPr>
          <a:xfrm>
            <a:off x="8430508" y="3362494"/>
            <a:ext cx="330718" cy="31892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TW" sz="1600" b="1" dirty="0">
                <a:latin typeface="Arial" panose="020B0604020202020204" pitchFamily="34" charset="0"/>
                <a:cs typeface="Arial" panose="020B0604020202020204" pitchFamily="34" charset="0"/>
              </a:rPr>
              <a:t>IV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F5C81FF6-8DBA-8708-CA91-6A8AACC796CB}"/>
              </a:ext>
            </a:extLst>
          </p:cNvPr>
          <p:cNvSpPr txBox="1"/>
          <p:nvPr/>
        </p:nvSpPr>
        <p:spPr>
          <a:xfrm>
            <a:off x="10764099" y="3953267"/>
            <a:ext cx="83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6 directions</a:t>
            </a:r>
          </a:p>
        </p:txBody>
      </p:sp>
    </p:spTree>
    <p:extLst>
      <p:ext uri="{BB962C8B-B14F-4D97-AF65-F5344CB8AC3E}">
        <p14:creationId xmlns:p14="http://schemas.microsoft.com/office/powerpoint/2010/main" val="79024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32CFC-8CF5-03BC-898F-A3BBC71996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9969331" y="2758544"/>
            <a:ext cx="521506" cy="5909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7899C0-56A0-E3C8-4176-5DBBF34249F3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10496049" y="2229027"/>
            <a:ext cx="714047" cy="612762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31FE0A-4629-0D1D-2A4D-5A1896B50B9D}"/>
              </a:ext>
            </a:extLst>
          </p:cNvPr>
          <p:cNvSpPr txBox="1"/>
          <p:nvPr/>
        </p:nvSpPr>
        <p:spPr>
          <a:xfrm>
            <a:off x="9780515" y="2049194"/>
            <a:ext cx="7615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800" dirty="0">
                <a:latin typeface="Arial" panose="020B0604020202020204" pitchFamily="34" charset="0"/>
                <a:cs typeface="Arial" panose="020B0604020202020204" pitchFamily="34" charset="0"/>
              </a:rPr>
              <a:t>Confonders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2BE186-3CD5-D330-635D-DC6322C4722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9219235" y="3127000"/>
            <a:ext cx="340717" cy="7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523E37-A02F-470F-F7AC-049F12B19D10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9101987" y="2229027"/>
            <a:ext cx="709336" cy="573249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1C83B0F-FC32-639A-3F7D-DB402C9B6614}"/>
              </a:ext>
            </a:extLst>
          </p:cNvPr>
          <p:cNvSpPr/>
          <p:nvPr/>
        </p:nvSpPr>
        <p:spPr>
          <a:xfrm>
            <a:off x="9669511" y="2045135"/>
            <a:ext cx="968350" cy="215443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5DEA04-68FF-85DD-F5F9-3ACA7D88D7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5901" b="21803"/>
          <a:stretch>
            <a:fillRect/>
          </a:stretch>
        </p:blipFill>
        <p:spPr>
          <a:xfrm flipH="1">
            <a:off x="9853479" y="3326347"/>
            <a:ext cx="584178" cy="363916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5ED39728-6CA6-1755-C21C-D70BD4447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952" y="2864272"/>
            <a:ext cx="420042" cy="54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4212AA-01A7-B2AC-AC58-353FE28F52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280335" y="2758544"/>
            <a:ext cx="521506" cy="590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63E505-10E3-1E54-CA98-768CCB8B9D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5901" b="21803"/>
          <a:stretch>
            <a:fillRect/>
          </a:stretch>
        </p:blipFill>
        <p:spPr>
          <a:xfrm flipH="1">
            <a:off x="11164483" y="3326347"/>
            <a:ext cx="584178" cy="363916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58AB3212-3FAA-F1A7-F2E8-4EB81CDC4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956" y="2864272"/>
            <a:ext cx="420042" cy="54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Free Dna Icon - Download SVG, PNG for Science &amp; Technology | IconScout">
            <a:extLst>
              <a:ext uri="{FF2B5EF4-FFF2-40B4-BE49-F238E27FC236}">
                <a16:creationId xmlns:a16="http://schemas.microsoft.com/office/drawing/2014/main" id="{EEBE5850-D9AD-3727-0CAE-7E22803B9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8672653" y="2804846"/>
            <a:ext cx="538159" cy="53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Free Dna Icon - Download SVG, PNG for Science &amp; Technology | IconScout">
            <a:extLst>
              <a:ext uri="{FF2B5EF4-FFF2-40B4-BE49-F238E27FC236}">
                <a16:creationId xmlns:a16="http://schemas.microsoft.com/office/drawing/2014/main" id="{B4F2458D-2387-9F87-C812-45C53E0A3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8645554" y="3172391"/>
            <a:ext cx="538159" cy="53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No sign icon vector simple 14620271 Vector Art at Vecteezy">
            <a:extLst>
              <a:ext uri="{FF2B5EF4-FFF2-40B4-BE49-F238E27FC236}">
                <a16:creationId xmlns:a16="http://schemas.microsoft.com/office/drawing/2014/main" id="{E2C8FACA-BA91-60F7-FB2D-C112AE622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867" y="2421736"/>
            <a:ext cx="190271" cy="19027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No sign icon vector simple 14620271 Vector Art at Vecteezy">
            <a:extLst>
              <a:ext uri="{FF2B5EF4-FFF2-40B4-BE49-F238E27FC236}">
                <a16:creationId xmlns:a16="http://schemas.microsoft.com/office/drawing/2014/main" id="{93B8D3E5-52C0-4A13-AD87-002B437F1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2848" y="2421735"/>
            <a:ext cx="190271" cy="19027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2A47BD60-22AF-6397-4EB7-2FB0EEF1F5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099936" y="2427059"/>
            <a:ext cx="8693" cy="2592991"/>
          </a:xfrm>
          <a:prstGeom prst="curvedConnector3">
            <a:avLst>
              <a:gd name="adj1" fmla="val -403512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6" descr="No sign icon vector simple 14620271 Vector Art at Vecteezy">
            <a:extLst>
              <a:ext uri="{FF2B5EF4-FFF2-40B4-BE49-F238E27FC236}">
                <a16:creationId xmlns:a16="http://schemas.microsoft.com/office/drawing/2014/main" id="{3AF58068-C397-F253-BF8A-602179832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199" y="3992528"/>
            <a:ext cx="190271" cy="19027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ABDFEE-3582-BBD2-6C54-FF3F60F6209D}"/>
              </a:ext>
            </a:extLst>
          </p:cNvPr>
          <p:cNvCxnSpPr>
            <a:cxnSpLocks/>
          </p:cNvCxnSpPr>
          <p:nvPr/>
        </p:nvCxnSpPr>
        <p:spPr>
          <a:xfrm>
            <a:off x="10517280" y="3152799"/>
            <a:ext cx="340717" cy="7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2" descr="Free Dna Icon - Download SVG, PNG for Science &amp; Technology | IconScout">
            <a:extLst>
              <a:ext uri="{FF2B5EF4-FFF2-40B4-BE49-F238E27FC236}">
                <a16:creationId xmlns:a16="http://schemas.microsoft.com/office/drawing/2014/main" id="{52CFA37C-00AC-402A-93EE-7EA9D931C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8336519" y="2755390"/>
            <a:ext cx="538159" cy="53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291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71</Words>
  <Application>Microsoft Macintosh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佳欣 盧</dc:creator>
  <cp:lastModifiedBy>佳欣 盧</cp:lastModifiedBy>
  <cp:revision>29</cp:revision>
  <dcterms:created xsi:type="dcterms:W3CDTF">2024-10-31T07:03:55Z</dcterms:created>
  <dcterms:modified xsi:type="dcterms:W3CDTF">2026-03-29T14:09:53Z</dcterms:modified>
</cp:coreProperties>
</file>